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5c8e4411f341c6" /><Relationship Type="http://schemas.openxmlformats.org/officeDocument/2006/relationships/extended-properties" Target="/docProps/app.xml" Id="Rcb179538d6e04f5d" /><Relationship Type="http://schemas.openxmlformats.org/officeDocument/2006/relationships/officeDocument" Target="/ppt/presentation.xml" Id="R3c31f3e6b01040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d475bfe42a4b53"/>
  </p:sldMasterIdLst>
  <p:notesMasterIdLst>
    <p:notesMasterId xmlns:r="http://schemas.openxmlformats.org/officeDocument/2006/relationships" r:id="R55717c7880f74c54"/>
  </p:notesMasterIdLst>
  <p:sldIdLst>
    <p:sldId xmlns:r="http://schemas.openxmlformats.org/officeDocument/2006/relationships" id="256" r:id="R9f95b15fae784294"/>
    <p:sldId xmlns:r="http://schemas.openxmlformats.org/officeDocument/2006/relationships" id="257" r:id="Rfacf0357b0634c14"/>
    <p:sldId xmlns:r="http://schemas.openxmlformats.org/officeDocument/2006/relationships" id="258" r:id="R466b57a795a446bf"/>
    <p:sldId xmlns:r="http://schemas.openxmlformats.org/officeDocument/2006/relationships" id="259" r:id="R0577749de04a4beb"/>
    <p:sldId xmlns:r="http://schemas.openxmlformats.org/officeDocument/2006/relationships" id="260" r:id="R5ec00a38562843b9"/>
    <p:sldId xmlns:r="http://schemas.openxmlformats.org/officeDocument/2006/relationships" id="261" r:id="R6d1fbcea89054821"/>
    <p:sldId xmlns:r="http://schemas.openxmlformats.org/officeDocument/2006/relationships" id="262" r:id="R05e31172929c4692"/>
    <p:sldId xmlns:r="http://schemas.openxmlformats.org/officeDocument/2006/relationships" id="263" r:id="Re551ee0c11ea47f4"/>
    <p:sldId xmlns:r="http://schemas.openxmlformats.org/officeDocument/2006/relationships" id="264" r:id="R80e8c65a900142e4"/>
    <p:sldId xmlns:r="http://schemas.openxmlformats.org/officeDocument/2006/relationships" id="265" r:id="Rd9530b359fff4431"/>
    <p:sldId xmlns:r="http://schemas.openxmlformats.org/officeDocument/2006/relationships" id="266" r:id="R88b7891da2104361"/>
    <p:sldId xmlns:r="http://schemas.openxmlformats.org/officeDocument/2006/relationships" id="267" r:id="R7234974e566a41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492267cb184434" /><Relationship Type="http://schemas.openxmlformats.org/officeDocument/2006/relationships/slideMaster" Target="/ppt/slideMasters/slideMaster1.xml" Id="Re7d475bfe42a4b53" /><Relationship Type="http://schemas.openxmlformats.org/officeDocument/2006/relationships/notesMaster" Target="/ppt/notesMasters/notesMaster1.xml" Id="R55717c7880f74c54" /><Relationship Type="http://schemas.openxmlformats.org/officeDocument/2006/relationships/presProps" Target="/ppt/presProps.xml" Id="R6790c7ac248b43b7" /><Relationship Type="http://schemas.openxmlformats.org/officeDocument/2006/relationships/tableStyles" Target="/ppt/tableStyles.xml" Id="Rb2e84e23646f47b1" /><Relationship Type="http://schemas.openxmlformats.org/officeDocument/2006/relationships/slide" Target="/ppt/slides/slide1.xml" Id="R9f95b15fae784294" /><Relationship Type="http://schemas.openxmlformats.org/officeDocument/2006/relationships/slide" Target="/ppt/slides/slide2.xml" Id="Rfacf0357b0634c14" /><Relationship Type="http://schemas.openxmlformats.org/officeDocument/2006/relationships/slide" Target="/ppt/slides/slide3.xml" Id="R466b57a795a446bf" /><Relationship Type="http://schemas.openxmlformats.org/officeDocument/2006/relationships/slide" Target="/ppt/slides/slide4.xml" Id="R0577749de04a4beb" /><Relationship Type="http://schemas.openxmlformats.org/officeDocument/2006/relationships/slide" Target="/ppt/slides/slide5.xml" Id="R5ec00a38562843b9" /><Relationship Type="http://schemas.openxmlformats.org/officeDocument/2006/relationships/slide" Target="/ppt/slides/slide6.xml" Id="R6d1fbcea89054821" /><Relationship Type="http://schemas.openxmlformats.org/officeDocument/2006/relationships/slide" Target="/ppt/slides/slide7.xml" Id="R05e31172929c4692" /><Relationship Type="http://schemas.openxmlformats.org/officeDocument/2006/relationships/slide" Target="/ppt/slides/slide8.xml" Id="Re551ee0c11ea47f4" /><Relationship Type="http://schemas.openxmlformats.org/officeDocument/2006/relationships/slide" Target="/ppt/slides/slide9.xml" Id="R80e8c65a900142e4" /><Relationship Type="http://schemas.openxmlformats.org/officeDocument/2006/relationships/slide" Target="/ppt/slides/slide10.xml" Id="Rd9530b359fff4431" /><Relationship Type="http://schemas.openxmlformats.org/officeDocument/2006/relationships/slide" Target="/ppt/slides/slide11.xml" Id="R88b7891da2104361" /><Relationship Type="http://schemas.openxmlformats.org/officeDocument/2006/relationships/slide" Target="/ppt/slides/slide12.xml" Id="R7234974e566a41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daaaf9afa341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9d78568e94023" /><Relationship Type="http://schemas.openxmlformats.org/officeDocument/2006/relationships/notesMaster" Target="/ppt/notesMasters/notesMaster1.xml" Id="Rc799727e2ef243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90dfa250aa4b59" /><Relationship Type="http://schemas.openxmlformats.org/officeDocument/2006/relationships/notesMaster" Target="/ppt/notesMasters/notesMaster1.xml" Id="R06ba0b776f4c42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d09a53e47f4bf2" /><Relationship Type="http://schemas.openxmlformats.org/officeDocument/2006/relationships/notesMaster" Target="/ppt/notesMasters/notesMaster1.xml" Id="R2cc486fb44684b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e1b40572684265" /><Relationship Type="http://schemas.openxmlformats.org/officeDocument/2006/relationships/notesMaster" Target="/ppt/notesMasters/notesMaster1.xml" Id="R0af592db975b43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0645217fce4751" /><Relationship Type="http://schemas.openxmlformats.org/officeDocument/2006/relationships/notesMaster" Target="/ppt/notesMasters/notesMaster1.xml" Id="Rddf4eb98563143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c533a98a344c6c" /><Relationship Type="http://schemas.openxmlformats.org/officeDocument/2006/relationships/notesMaster" Target="/ppt/notesMasters/notesMaster1.xml" Id="R703eceb43e5e4e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205d7ca6224792" /><Relationship Type="http://schemas.openxmlformats.org/officeDocument/2006/relationships/notesMaster" Target="/ppt/notesMasters/notesMaster1.xml" Id="Rfdb7b66cdc884a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459fca9d2d4548" /><Relationship Type="http://schemas.openxmlformats.org/officeDocument/2006/relationships/notesMaster" Target="/ppt/notesMasters/notesMaster1.xml" Id="Rc5bb2ea45c904f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6d322668394620" /><Relationship Type="http://schemas.openxmlformats.org/officeDocument/2006/relationships/notesMaster" Target="/ppt/notesMasters/notesMaster1.xml" Id="Ra7141d94b2d141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bb67db00da4b46" /><Relationship Type="http://schemas.openxmlformats.org/officeDocument/2006/relationships/notesMaster" Target="/ppt/notesMasters/notesMaster1.xml" Id="R609518de972940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5737433754452c" /><Relationship Type="http://schemas.openxmlformats.org/officeDocument/2006/relationships/notesMaster" Target="/ppt/notesMasters/notesMaster1.xml" Id="Rd6c38a0b01e346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ede755097f4dfc" /><Relationship Type="http://schemas.openxmlformats.org/officeDocument/2006/relationships/notesMaster" Target="/ppt/notesMasters/notesMaster1.xml" Id="R3a82ab438c604c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ORQESTRA AI is an academic prototype for durable, workspace-scoped task orchestration. This deck presents implemented behavior and states the remaining acceptance gaps plainly.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focuses on reliable task execution around agents: typed plans, durable state, access control and evidence. It is not a claim that a large autonomous coding product is complete. Source: README.md; docs/agent-contracts.md; docs/scheduler.md.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Caddy is the only public service in the production overlay. The API and separate polling worker share PostgreSQL state, which also stores atomic login-attempt windows. Mounted password files feed the database and application configuration. Sources: docs/architecture.md; compose.yaml; compose.production.yaml.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lifecycle rather than claiming exactly-once execution. Tasks are leased and may be repeated after lease expiry. Results only publish while the attempt owns the lease. Pure deterministic tasks are safer to retry; uncertain provider charges are handled conservatively. Source: docs/scheduler.md; docs/benchmarks-recovery.md.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security review maps existing tests to workspace isolation, CSRF/origin enforcement, SSRF controls, sandbox constraints, approval fingerprints and formula-safe exports. Prompt-like fixture text tests deterministic handling; it does not demonstrate resistance of a live LLM. Source: docs/checkpoint15-security-review.md; docs/authentication.md; docs/approvals.md.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are 78 cases: 71 expected successful cases and 7 expected invalid-input rejections. Each execution defaults to three replicates, yielding 234 case-replicates per routing mode. Single means direct registry dispatch; fixed and adaptive use their policies. Expected outputs are compared recursively with a small numeric tolerance. Source: backend/app/fixtures/benchmark_v2.json; docs/checkpoint15-security-review.md.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Tests verify expected outcomes for all cases across the three modes. That means the deterministic implementation meets its fixtures; it is not evidence that one routing policy is better. Only one built-in registered agent exists per capability. The suite is local, sequential, provider-free, and does not measure speedup or provider cost. Sources: docs/checkpoint15-security-review.md; backend/tests/test_checkpoint_recovery_benchmarks.py.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A, B and C satisfy the handbook's three core demonstrations as guided scenarios. A and B are fixture-backed and disclose that status; C invokes the real bounded CSV analysis code. Demo D is only a checkpoint-state snapshot; do not describe it as live worker termination. Sources: docs/checkpoint16-operations.md; backend/app/demos.py; backend/tests/test_checkpoint16_demos.py.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overlay routes browser traffic through Caddy, uses the static production frontend, keeps backend service ports private and injects the DB password from a mounted file. Public registration and optional LLM/research/sandbox features are disabled. Bootstrap admin refuses to create an account if any user already exists. Sources: compose.production.yaml; deploy/Caddyfile; docs/checkpoint16-operations.md.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requires GPG and a passphrase file, produces a custom-format PostgreSQL dump, records schema and key row counts, and checksums the dump and manifest. Restore checks archive paths and checksums before creating a new database, applies migrations and compares counts. The encrypted backup and isolated restore passed against the local Docker/PostgreSQL stack; public hosting and off-host retention remain open. Sources: scripts/backup.sh; scripts/restore.sh; scripts/health_drill.sh; docs/checkpoint16-evidence.md.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latest backend suite passed 281 tests, with two PostgreSQL-only tests skipped locally. Ruff, Mypy, formatting and the frontend build pass. The loopback-only Docker/PostgreSQL stack passed all four demos and the encrypted backup/isolated restore drill. The managed host has a free builder queue; verify the release built from PostgreSQL-backed throttling before repeating hosted health and demo checks. Public TLS details and off-host retention remain unverified. Checkpoints 13/14 retain documented gaps: live PostgreSQL worker kill/restart, browser SSE reconnect and older-workflow search. Sources: README.md; docs/checkpoint16-operations.md; docs/dashboard-observability.md; docs/benchmarks-recovery.md; docs/checkpoint16-evidence.md.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to close. First: why at-least-once and stale-result fencing are more accurate than exactly-once. Second: why PostgreSQL-backed login throttling fits the managed hosting limits. Third: what additional competing agents, held-out tasks and independent observations would be needed to compare routing policies. Invite questions without implying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992e485d94f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3005ef60f4f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d8198ff5644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f4dfb07664a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43513ac6f42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0de21990644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F271AD-720B-4079-A155-B90A2887B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7292DC-0092-48D2-BEFA-C1D4C4D57E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834B13-92B8-4CB1-8790-0C55C7C38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B25986-B7AA-4C15-8ADC-3E7B6E342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0EBA5F-57FA-4B56-82E9-B705A02F8C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D830F5-2991-42CC-A6ED-1972F0CCC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98D4B8-C988-45CB-9CDD-1968C3E59C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49230F-3593-4AF2-85C8-8B161672A4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1EE103-6BA0-4CB9-94AD-185315C13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20DA8C-4732-4A38-ADBC-AE3C3E0B2A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7e193989194819" /><Relationship Type="http://schemas.openxmlformats.org/officeDocument/2006/relationships/slideLayout" Target="/ppt/slideLayouts/slideLayout1.xml" Id="Ra1f02ea1c164474e" /><Relationship Type="http://schemas.openxmlformats.org/officeDocument/2006/relationships/slideLayout" Target="/ppt/slideLayouts/slideLayout2.xml" Id="Ra44ebbee6c504650" /><Relationship Type="http://schemas.openxmlformats.org/officeDocument/2006/relationships/slideLayout" Target="/ppt/slideLayouts/slideLayout3.xml" Id="R40946bf1c6b74763" /><Relationship Type="http://schemas.openxmlformats.org/officeDocument/2006/relationships/slideLayout" Target="/ppt/slideLayouts/slideLayout4.xml" Id="Rd92e92c381d34fe9" /><Relationship Type="http://schemas.openxmlformats.org/officeDocument/2006/relationships/slideLayout" Target="/ppt/slideLayouts/slideLayout5.xml" Id="Re4e28f8477c94f3f" /><Relationship Type="http://schemas.openxmlformats.org/officeDocument/2006/relationships/slideLayout" Target="/ppt/slideLayouts/slideLayout6.xml" Id="R2b669b6e984147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f02ea1c164474e"/>
    <p:sldLayoutId xmlns:r="http://schemas.openxmlformats.org/officeDocument/2006/relationships" id="2147483650" r:id="Ra44ebbee6c504650"/>
    <p:sldLayoutId xmlns:r="http://schemas.openxmlformats.org/officeDocument/2006/relationships" id="2147483651" r:id="R40946bf1c6b74763"/>
    <p:sldLayoutId xmlns:r="http://schemas.openxmlformats.org/officeDocument/2006/relationships" id="2147483652" r:id="Rd92e92c381d34fe9"/>
    <p:sldLayoutId xmlns:r="http://schemas.openxmlformats.org/officeDocument/2006/relationships" id="2147483653" r:id="Re4e28f8477c94f3f"/>
    <p:sldLayoutId xmlns:r="http://schemas.openxmlformats.org/officeDocument/2006/relationships" id="2147483654" r:id="R2b669b6e984147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ead7067204d79" /><Relationship Type="http://schemas.openxmlformats.org/officeDocument/2006/relationships/notesSlide" Target="/ppt/notesSlides/notesSlide1.xml" Id="R6d7ba62f15504a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9ef27abaa44d8" /><Relationship Type="http://schemas.openxmlformats.org/officeDocument/2006/relationships/notesSlide" Target="/ppt/notesSlides/notesSlide2.xml" Id="Rcd9af098ba95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0ab88c9e0445c" /><Relationship Type="http://schemas.openxmlformats.org/officeDocument/2006/relationships/notesSlide" Target="/ppt/notesSlides/notesSlide3.xml" Id="R3a82b1a6d1fb4d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03ed2c0d2436d" /><Relationship Type="http://schemas.openxmlformats.org/officeDocument/2006/relationships/notesSlide" Target="/ppt/notesSlides/notesSlide4.xml" Id="Ra144050879ad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9162d20b14025" /><Relationship Type="http://schemas.openxmlformats.org/officeDocument/2006/relationships/notesSlide" Target="/ppt/notesSlides/notesSlide5.xml" Id="Re5c07ddf360c43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1f4b62780444d" /><Relationship Type="http://schemas.openxmlformats.org/officeDocument/2006/relationships/notesSlide" Target="/ppt/notesSlides/notesSlide6.xml" Id="R4373aa3953194a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082691200438e" /><Relationship Type="http://schemas.openxmlformats.org/officeDocument/2006/relationships/notesSlide" Target="/ppt/notesSlides/notesSlide7.xml" Id="R76427ac9f97444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4a08dd63445d2" /><Relationship Type="http://schemas.openxmlformats.org/officeDocument/2006/relationships/notesSlide" Target="/ppt/notesSlides/notesSlide8.xml" Id="R3f4229ff7ce048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9c5e5fa544296" /><Relationship Type="http://schemas.openxmlformats.org/officeDocument/2006/relationships/notesSlide" Target="/ppt/notesSlides/notesSlide9.xml" Id="R04eee13e600c43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42666d9f247a0" /><Relationship Type="http://schemas.openxmlformats.org/officeDocument/2006/relationships/notesSlide" Target="/ppt/notesSlides/notesSlide10.xml" Id="R070dd5bcd25c4b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73f57326c4c11" /><Relationship Type="http://schemas.openxmlformats.org/officeDocument/2006/relationships/notesSlide" Target="/ppt/notesSlides/notesSlide11.xml" Id="Rfa984daf1f4843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437aa4fec345e2" /><Relationship Type="http://schemas.openxmlformats.org/officeDocument/2006/relationships/notesSlide" Target="/ppt/notesSlides/notesSlide12.xml" Id="Rccca471e1ba2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6F84202-4297-4163-B836-64AAEC9E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C53C1A95-4102-436D-86F7-C17B1ECA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ORQESTRA 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9A4D1D8-8ACB-4526-8566-937ED2F0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Reliable orchestration</a:t>
            </a:r>
          </a:p>
          <a:p xmlns:a="http://schemas.openxmlformats.org/drawingml/2006/main">
            <a:pPr algn="l">
              <a:defRPr sz="5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for agent workflows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C0FE1A-DAAE-4DB5-ABBC-CA135A6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System design, controls, evaluation and deployment readiness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141731F0-CD8F-4C30-BA68-2BF7C7AE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959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Project viva  |  27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57211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2">
            <a:extLst xmlns:a="http://schemas.openxmlformats.org/drawingml/2006/main">
              <a:ext uri="{FF2B5EF4-FFF2-40B4-BE49-F238E27FC236}">
                <a16:creationId xmlns:a16="http://schemas.microsoft.com/office/drawing/2014/main" id="{697B2835-9FE5-433A-9855-3F4AA0C7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75F6F58-5B03-48F9-850A-233BEA54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Reliable execution is the core problem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23A1971E-0A71-4137-B20C-62735A7B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6925C0F-E1D6-438F-817C-05A9472D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4FA9779A-5C68-4D54-A5EE-5B76D51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89A0057D-3DBE-4206-8815-DFAD9283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problem-a-marker">
            <a:extLst xmlns:a="http://schemas.openxmlformats.org/drawingml/2006/main">
              <a:ext uri="{FF2B5EF4-FFF2-40B4-BE49-F238E27FC236}">
                <a16:creationId xmlns:a16="http://schemas.microsoft.com/office/drawing/2014/main" id="{915E3240-0D1D-4A17-827B-969BE507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a-heading">
            <a:extLst xmlns:a="http://schemas.openxmlformats.org/drawingml/2006/main">
              <a:ext uri="{FF2B5EF4-FFF2-40B4-BE49-F238E27FC236}">
                <a16:creationId xmlns:a16="http://schemas.microsoft.com/office/drawing/2014/main" id="{4564DA18-8940-4972-B0B3-FEDF7DEF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Plans must be executable</a:t>
            </a:r>
          </a:p>
        </p:txBody>
      </p:sp>
      <p:sp>
        <p:nvSpPr>
          <p:cNvPr id="9" name="problem-a-body">
            <a:extLst xmlns:a="http://schemas.openxmlformats.org/drawingml/2006/main">
              <a:ext uri="{FF2B5EF4-FFF2-40B4-BE49-F238E27FC236}">
                <a16:creationId xmlns:a16="http://schemas.microsoft.com/office/drawing/2014/main" id="{C58F0C53-1FE4-4F4E-9A63-FA10A6F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Reject malformed graphs, incompatible task contracts and missing dependencies before work begins.</a:t>
            </a:r>
          </a:p>
        </p:txBody>
      </p:sp>
      <p:sp>
        <p:nvSpPr>
          <p:cNvPr id="10" name="problem-b-marker">
            <a:extLst xmlns:a="http://schemas.openxmlformats.org/drawingml/2006/main">
              <a:ext uri="{FF2B5EF4-FFF2-40B4-BE49-F238E27FC236}">
                <a16:creationId xmlns:a16="http://schemas.microsoft.com/office/drawing/2014/main" id="{860DB1C5-B724-493E-AF07-AE57A8A0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b-heading">
            <a:extLst xmlns:a="http://schemas.openxmlformats.org/drawingml/2006/main">
              <a:ext uri="{FF2B5EF4-FFF2-40B4-BE49-F238E27FC236}">
                <a16:creationId xmlns:a16="http://schemas.microsoft.com/office/drawing/2014/main" id="{6B012DF1-C3FA-42AE-8C64-9C6938A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Progress must survive failure</a:t>
            </a:r>
          </a:p>
        </p:txBody>
      </p:sp>
      <p:sp>
        <p:nvSpPr>
          <p:cNvPr id="12" name="problem-b-body">
            <a:extLst xmlns:a="http://schemas.openxmlformats.org/drawingml/2006/main">
              <a:ext uri="{FF2B5EF4-FFF2-40B4-BE49-F238E27FC236}">
                <a16:creationId xmlns:a16="http://schemas.microsoft.com/office/drawing/2014/main" id="{58606AB7-EF54-4547-9852-6E4E976A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Persist tasks and attempts; use leases and checkpoint boundaries so workers can resume safely.</a:t>
            </a:r>
          </a:p>
        </p:txBody>
      </p:sp>
      <p:sp>
        <p:nvSpPr>
          <p:cNvPr id="13" name="problem-c-marker">
            <a:extLst xmlns:a="http://schemas.openxmlformats.org/drawingml/2006/main">
              <a:ext uri="{FF2B5EF4-FFF2-40B4-BE49-F238E27FC236}">
                <a16:creationId xmlns:a16="http://schemas.microsoft.com/office/drawing/2014/main" id="{98F83DAA-0E87-43B9-A869-B7E04849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c-heading">
            <a:extLst xmlns:a="http://schemas.openxmlformats.org/drawingml/2006/main">
              <a:ext uri="{FF2B5EF4-FFF2-40B4-BE49-F238E27FC236}">
                <a16:creationId xmlns:a16="http://schemas.microsoft.com/office/drawing/2014/main" id="{604CB11A-8431-4798-BE88-C20450D2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Results must be reviewable</a:t>
            </a:r>
          </a:p>
        </p:txBody>
      </p:sp>
      <p:sp>
        <p:nvSpPr>
          <p:cNvPr id="15" name="problem-c-body">
            <a:extLst xmlns:a="http://schemas.openxmlformats.org/drawingml/2006/main">
              <a:ext uri="{FF2B5EF4-FFF2-40B4-BE49-F238E27FC236}">
                <a16:creationId xmlns:a16="http://schemas.microsoft.com/office/drawing/2014/main" id="{F2236931-F65D-41C8-B7C2-D75CE5D1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Scope data by workspace, gate sensitive writes and keep verification limits visible.</a:t>
            </a:r>
          </a:p>
        </p:txBody>
      </p:sp>
    </p:spTree>
    <p:extLst>
      <p:ext uri="{BB962C8B-B14F-4D97-AF65-F5344CB8AC3E}">
        <p14:creationId xmlns:p14="http://schemas.microsoft.com/office/powerpoint/2010/main" val="1808396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7C25D-C381-48A3-BC70-18DAD0EC348A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V="1">
            <a:off x="8839200" y="2371725"/>
            <a:ext cx="2238375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BD76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9497B-576F-4D73-96EE-D31A7835362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829550" y="2371725"/>
            <a:ext cx="1009650" cy="1162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0C9BC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F49F8-0F95-447E-B12D-AD47EF448E5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57750" y="2914650"/>
            <a:ext cx="87630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0C9BC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B4C36-952D-4AF9-9064-60BC0A38BEA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4857750" y="2114550"/>
            <a:ext cx="87630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8B7B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29016-F5AC-46A4-A3F2-FA2CCD5CD7B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276475" y="2914650"/>
            <a:ext cx="6191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C9BC"/>
            </a:solidFill>
            <a:prstDash val="solid"/>
          </a:ln>
        </p:spPr>
      </p:cxnSp>
      <p:sp>
        <p:nvSpPr>
          <p:cNvPr id="26" name="section-3">
            <a:extLst xmlns:a="http://schemas.openxmlformats.org/drawingml/2006/main">
              <a:ext uri="{FF2B5EF4-FFF2-40B4-BE49-F238E27FC236}">
                <a16:creationId xmlns:a16="http://schemas.microsoft.com/office/drawing/2014/main" id="{A0E7F22F-E437-4377-AD05-633E08C6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B85106F-B585-4E76-B736-8F0ECB36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53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The service separates browser, API, worker and state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6DF35070-5758-432C-B118-6693422E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7091C85-F7FB-405F-A981-66DF1D9A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0C401B55-64B4-455A-8DDB-002793AC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261EC9F3-C298-41F8-893B-30FB51A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rowser">
            <a:extLst xmlns:a="http://schemas.openxmlformats.org/drawingml/2006/main">
              <a:ext uri="{FF2B5EF4-FFF2-40B4-BE49-F238E27FC236}">
                <a16:creationId xmlns:a16="http://schemas.microsoft.com/office/drawing/2014/main" id="{710D8021-8639-440E-BBD8-F1C339FF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14600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19050">
            <a:solidFill>
              <a:srgbClr val="35505B"/>
            </a:solidFill>
            <a:prstDash val="solid"/>
          </a:ln>
        </p:spPr>
      </p:sp>
      <p:sp>
        <p:nvSpPr>
          <p:cNvPr id="8" name="browser-label">
            <a:extLst xmlns:a="http://schemas.openxmlformats.org/drawingml/2006/main">
              <a:ext uri="{FF2B5EF4-FFF2-40B4-BE49-F238E27FC236}">
                <a16:creationId xmlns:a16="http://schemas.microsoft.com/office/drawing/2014/main" id="{EFAC6777-B119-4CB6-9C34-016B1B22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98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071"/>
          </a:bodyPr>
          <a:lstStyle xmlns:a="http://schemas.openxmlformats.org/drawingml/2006/main">
            <a:def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9" name="caddy">
            <a:extLst xmlns:a="http://schemas.openxmlformats.org/drawingml/2006/main">
              <a:ext uri="{FF2B5EF4-FFF2-40B4-BE49-F238E27FC236}">
                <a16:creationId xmlns:a16="http://schemas.microsoft.com/office/drawing/2014/main" id="{FAB24E44-BE9E-420A-B422-100B725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86000"/>
            <a:ext cx="1962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19050">
            <a:solidFill>
              <a:srgbClr val="70C9BC"/>
            </a:solidFill>
            <a:prstDash val="solid"/>
          </a:ln>
        </p:spPr>
      </p:sp>
      <p:sp>
        <p:nvSpPr>
          <p:cNvPr id="10" name="caddy-label">
            <a:extLst xmlns:a="http://schemas.openxmlformats.org/drawingml/2006/main">
              <a:ext uri="{FF2B5EF4-FFF2-40B4-BE49-F238E27FC236}">
                <a16:creationId xmlns:a16="http://schemas.microsoft.com/office/drawing/2014/main" id="{32F6197F-2173-4552-A3C5-E43953AD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1657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Caddy</a:t>
            </a:r>
          </a:p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HTTPS + proxy</a:t>
            </a:r>
          </a:p>
        </p:txBody>
      </p:sp>
      <p:sp>
        <p:nvSpPr>
          <p:cNvPr id="11" name="frontend">
            <a:extLst xmlns:a="http://schemas.openxmlformats.org/drawingml/2006/main">
              <a:ext uri="{FF2B5EF4-FFF2-40B4-BE49-F238E27FC236}">
                <a16:creationId xmlns:a16="http://schemas.microsoft.com/office/drawing/2014/main" id="{9F7BF4C8-6877-4E3B-AFFC-CB75C13F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954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19050">
            <a:solidFill>
              <a:srgbClr val="35505B"/>
            </a:solidFill>
            <a:prstDash val="solid"/>
          </a:ln>
        </p:spPr>
      </p:sp>
      <p:sp>
        <p:nvSpPr>
          <p:cNvPr id="12" name="frontend-label">
            <a:extLst xmlns:a="http://schemas.openxmlformats.org/drawingml/2006/main">
              <a:ext uri="{FF2B5EF4-FFF2-40B4-BE49-F238E27FC236}">
                <a16:creationId xmlns:a16="http://schemas.microsoft.com/office/drawing/2014/main" id="{66D3B92F-C276-4484-9633-3128C6CA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81175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Static frontend</a:t>
            </a:r>
          </a:p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13" name="api">
            <a:extLst xmlns:a="http://schemas.openxmlformats.org/drawingml/2006/main">
              <a:ext uri="{FF2B5EF4-FFF2-40B4-BE49-F238E27FC236}">
                <a16:creationId xmlns:a16="http://schemas.microsoft.com/office/drawing/2014/main" id="{36F485FC-64B1-4332-B0AE-083DE4E6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95625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19050">
            <a:solidFill>
              <a:srgbClr val="70C9BC"/>
            </a:solidFill>
            <a:prstDash val="solid"/>
          </a:ln>
        </p:spPr>
      </p:sp>
      <p:sp>
        <p:nvSpPr>
          <p:cNvPr id="14" name="api-label">
            <a:extLst xmlns:a="http://schemas.openxmlformats.org/drawingml/2006/main">
              <a:ext uri="{FF2B5EF4-FFF2-40B4-BE49-F238E27FC236}">
                <a16:creationId xmlns:a16="http://schemas.microsoft.com/office/drawing/2014/main" id="{F4A36623-DA33-48F9-9434-011007D4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1828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72"/>
          </a:bodyPr>
          <a:lstStyle xmlns:a="http://schemas.openxmlformats.org/drawingml/2006/main">
            <a:def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auth + orchestration</a:t>
            </a:r>
          </a:p>
        </p:txBody>
      </p:sp>
      <p:sp>
        <p:nvSpPr>
          <p:cNvPr id="15" name="postgres">
            <a:extLst xmlns:a="http://schemas.openxmlformats.org/drawingml/2006/main">
              <a:ext uri="{FF2B5EF4-FFF2-40B4-BE49-F238E27FC236}">
                <a16:creationId xmlns:a16="http://schemas.microsoft.com/office/drawing/2014/main" id="{3080A7F4-B277-4DA0-AD1F-AE1B75E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3357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19050">
            <a:solidFill>
              <a:srgbClr val="70C9BC"/>
            </a:solidFill>
            <a:prstDash val="solid"/>
          </a:ln>
        </p:spPr>
      </p:sp>
      <p:sp>
        <p:nvSpPr>
          <p:cNvPr id="16" name="postgres-label">
            <a:extLst xmlns:a="http://schemas.openxmlformats.org/drawingml/2006/main">
              <a:ext uri="{FF2B5EF4-FFF2-40B4-BE49-F238E27FC236}">
                <a16:creationId xmlns:a16="http://schemas.microsoft.com/office/drawing/2014/main" id="{0BAF60BE-C210-4114-8D40-7D1D715F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9775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34"/>
          </a:bodyPr>
          <a:lstStyle xmlns:a="http://schemas.openxmlformats.org/drawingml/2006/main">
            <a:def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workflow + auth state</a:t>
            </a:r>
          </a:p>
        </p:txBody>
      </p:sp>
      <p:sp>
        <p:nvSpPr>
          <p:cNvPr id="17" name="worker">
            <a:extLst xmlns:a="http://schemas.openxmlformats.org/drawingml/2006/main">
              <a:ext uri="{FF2B5EF4-FFF2-40B4-BE49-F238E27FC236}">
                <a16:creationId xmlns:a16="http://schemas.microsoft.com/office/drawing/2014/main" id="{3CD34394-A793-4358-8A79-11BC222A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19050">
            <a:solidFill>
              <a:srgbClr val="F0BD76"/>
            </a:solidFill>
            <a:prstDash val="solid"/>
          </a:ln>
        </p:spPr>
      </p:sp>
      <p:sp>
        <p:nvSpPr>
          <p:cNvPr id="18" name="worker-label">
            <a:extLst xmlns:a="http://schemas.openxmlformats.org/drawingml/2006/main">
              <a:ext uri="{FF2B5EF4-FFF2-40B4-BE49-F238E27FC236}">
                <a16:creationId xmlns:a16="http://schemas.microsoft.com/office/drawing/2014/main" id="{8E7705DD-B7FD-43A0-A468-1C58BC4A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34"/>
          </a:bodyPr>
          <a:lstStyle xmlns:a="http://schemas.openxmlformats.org/drawingml/2006/main">
            <a:def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Polling worker</a:t>
            </a:r>
          </a:p>
          <a:p xmlns:a="http://schemas.openxmlformats.org/drawingml/2006/main">
            <a:pPr algn="ctr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leased task execution</a:t>
            </a:r>
          </a:p>
        </p:txBody>
      </p:sp>
      <p:sp>
        <p:nvSpPr>
          <p:cNvPr id="24" name="auth-note">
            <a:extLst xmlns:a="http://schemas.openxmlformats.org/drawingml/2006/main">
              <a:ext uri="{FF2B5EF4-FFF2-40B4-BE49-F238E27FC236}">
                <a16:creationId xmlns:a16="http://schemas.microsoft.com/office/drawing/2014/main" id="{4EF4A0FA-DEFE-4C65-8E5C-34EA1CE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Login throttling shares the same database: five attempts per normalized email every 15 minutes.</a:t>
            </a:r>
          </a:p>
        </p:txBody>
      </p:sp>
      <p:sp>
        <p:nvSpPr>
          <p:cNvPr id="25" name="security-note">
            <a:extLst xmlns:a="http://schemas.openxmlformats.org/drawingml/2006/main">
              <a:ext uri="{FF2B5EF4-FFF2-40B4-BE49-F238E27FC236}">
                <a16:creationId xmlns:a16="http://schemas.microsoft.com/office/drawing/2014/main" id="{D0E5F50F-FA75-4EA2-AC0A-E349F39C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Production ingress: Caddy only. API, database and frontend ports stay private.</a:t>
            </a:r>
          </a:p>
        </p:txBody>
      </p:sp>
    </p:spTree>
    <p:extLst>
      <p:ext uri="{BB962C8B-B14F-4D97-AF65-F5344CB8AC3E}">
        <p14:creationId xmlns:p14="http://schemas.microsoft.com/office/powerpoint/2010/main" val="397358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4">
            <a:extLst xmlns:a="http://schemas.openxmlformats.org/drawingml/2006/main">
              <a:ext uri="{FF2B5EF4-FFF2-40B4-BE49-F238E27FC236}">
                <a16:creationId xmlns:a16="http://schemas.microsoft.com/office/drawing/2014/main" id="{DE502007-CC86-4C2A-AB49-1CB78283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5CC8921-2B88-4C3A-A99C-A7C22A9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A task moves through a persisted, fenced lifecycle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12A22426-EDCA-4251-9722-B09441AC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08070EC-A0D2-48A1-9691-604C0A8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30C943D5-08FE-4349-A5C9-CEA1C6D1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078824ED-06D8-409C-A2C1-49F77D7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lifecycle-line">
            <a:extLst xmlns:a="http://schemas.openxmlformats.org/drawingml/2006/main">
              <a:ext uri="{FF2B5EF4-FFF2-40B4-BE49-F238E27FC236}">
                <a16:creationId xmlns:a16="http://schemas.microsoft.com/office/drawing/2014/main" id="{05F457D3-9738-417C-8DD8-978009B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05B"/>
            </a:solidFill>
            <a:prstDash val="solid"/>
          </a:ln>
        </p:spPr>
      </p:sp>
      <p:sp>
        <p:nvSpPr>
          <p:cNvPr id="8" name="step-dot-0">
            <a:extLst xmlns:a="http://schemas.openxmlformats.org/drawingml/2006/main">
              <a:ext uri="{FF2B5EF4-FFF2-40B4-BE49-F238E27FC236}">
                <a16:creationId xmlns:a16="http://schemas.microsoft.com/office/drawing/2014/main" id="{598D246E-7DB8-4FA8-9CA9-DFA23A93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F340E3F5-CA85-496E-A968-BBED07DD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ep-heading-0">
            <a:extLst xmlns:a="http://schemas.openxmlformats.org/drawingml/2006/main">
              <a:ext uri="{FF2B5EF4-FFF2-40B4-BE49-F238E27FC236}">
                <a16:creationId xmlns:a16="http://schemas.microsoft.com/office/drawing/2014/main" id="{E6B34ECB-4603-4F85-8088-E93C09E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38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1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088C062-D0D1-4B76-942A-B93F6552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95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Typed DAG and</a:t>
            </a:r>
          </a:p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capability checks</a:t>
            </a:r>
          </a:p>
        </p:txBody>
      </p:sp>
      <p:sp>
        <p:nvSpPr>
          <p:cNvPr id="12" name="step-dot-1">
            <a:extLst xmlns:a="http://schemas.openxmlformats.org/drawingml/2006/main">
              <a:ext uri="{FF2B5EF4-FFF2-40B4-BE49-F238E27FC236}">
                <a16:creationId xmlns:a16="http://schemas.microsoft.com/office/drawing/2014/main" id="{AC69350D-32AD-4BA0-92F3-79F11FF8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62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9AD3F27-8BEE-4F15-83B3-0CBA612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95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DFB4B25D-D3C9-4287-89FD-35ABA196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8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15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0E26EDE-E0C5-4A2E-A9F1-C30088B4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95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17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Workflow, tasks</a:t>
            </a:r>
          </a:p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and dependencies</a:t>
            </a:r>
          </a:p>
        </p:txBody>
      </p:sp>
      <p:sp>
        <p:nvSpPr>
          <p:cNvPr id="16" name="step-dot-2">
            <a:extLst xmlns:a="http://schemas.openxmlformats.org/drawingml/2006/main">
              <a:ext uri="{FF2B5EF4-FFF2-40B4-BE49-F238E27FC236}">
                <a16:creationId xmlns:a16="http://schemas.microsoft.com/office/drawing/2014/main" id="{2F72154A-C00D-44DC-A65E-61193F8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2DA007F-2049-4721-9493-240299ED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976458CE-D528-49C9-A3DE-C767DC41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238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Lease</a:t>
            </a:r>
          </a:p>
        </p:txBody>
      </p:sp>
      <p:sp>
        <p:nvSpPr>
          <p:cNvPr id="19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625EA0C-D42D-44A0-8281-07B3835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695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98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Worker claims</a:t>
            </a:r>
          </a:p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 bounded attempt</a:t>
            </a:r>
          </a:p>
        </p:txBody>
      </p:sp>
      <p:sp>
        <p:nvSpPr>
          <p:cNvPr id="20" name="step-dot-3">
            <a:extLst xmlns:a="http://schemas.openxmlformats.org/drawingml/2006/main">
              <a:ext uri="{FF2B5EF4-FFF2-40B4-BE49-F238E27FC236}">
                <a16:creationId xmlns:a16="http://schemas.microsoft.com/office/drawing/2014/main" id="{13296A75-C6E5-4F25-8256-91959C5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04E185E-E012-4D8F-B902-E17DA028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95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5E6398DA-67FA-499F-B73E-C356124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Dispatch</a:t>
            </a:r>
          </a:p>
        </p:txBody>
      </p:sp>
      <p:sp>
        <p:nvSpPr>
          <p:cNvPr id="23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D1CE49E-6836-4721-87CE-0ADC4AC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Agent runs with</a:t>
            </a:r>
          </a:p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scoped inputs</a:t>
            </a:r>
          </a:p>
        </p:txBody>
      </p:sp>
      <p:sp>
        <p:nvSpPr>
          <p:cNvPr id="24" name="step-dot-4">
            <a:extLst xmlns:a="http://schemas.openxmlformats.org/drawingml/2006/main">
              <a:ext uri="{FF2B5EF4-FFF2-40B4-BE49-F238E27FC236}">
                <a16:creationId xmlns:a16="http://schemas.microsoft.com/office/drawing/2014/main" id="{F6EBC6B3-5E62-46F0-855E-5BA3498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39CD84A3-1FF6-424A-8B6E-15F58BB8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98BC927E-7237-4150-8E74-345B271C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38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7" name="step-body-4">
            <a:extLst xmlns:a="http://schemas.openxmlformats.org/drawingml/2006/main">
              <a:ext uri="{FF2B5EF4-FFF2-40B4-BE49-F238E27FC236}">
                <a16:creationId xmlns:a16="http://schemas.microsoft.com/office/drawing/2014/main" id="{D2D9BF84-C2AB-4718-BA69-5016221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95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Validate output</a:t>
            </a:r>
          </a:p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and approvals</a:t>
            </a:r>
          </a:p>
        </p:txBody>
      </p:sp>
      <p:sp>
        <p:nvSpPr>
          <p:cNvPr id="28" name="step-dot-5">
            <a:extLst xmlns:a="http://schemas.openxmlformats.org/drawingml/2006/main">
              <a:ext uri="{FF2B5EF4-FFF2-40B4-BE49-F238E27FC236}">
                <a16:creationId xmlns:a16="http://schemas.microsoft.com/office/drawing/2014/main" id="{5675E271-A22C-4E1A-AC6A-3C83F11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362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8DCDB09E-0DD9-43A5-A805-6E5ACBDB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95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step-heading-5">
            <a:extLst xmlns:a="http://schemas.openxmlformats.org/drawingml/2006/main">
              <a:ext uri="{FF2B5EF4-FFF2-40B4-BE49-F238E27FC236}">
                <a16:creationId xmlns:a16="http://schemas.microsoft.com/office/drawing/2014/main" id="{1728BBC1-4D75-47CB-9BA4-D02AAF8F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38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31" name="step-body-5">
            <a:extLst xmlns:a="http://schemas.openxmlformats.org/drawingml/2006/main">
              <a:ext uri="{FF2B5EF4-FFF2-40B4-BE49-F238E27FC236}">
                <a16:creationId xmlns:a16="http://schemas.microsoft.com/office/drawing/2014/main" id="{42D67CD7-9E00-4704-83B7-CAC07D87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95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Persist result,</a:t>
            </a:r>
          </a:p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event and artifact</a:t>
            </a:r>
          </a:p>
        </p:txBody>
      </p:sp>
      <p:sp>
        <p:nvSpPr>
          <p:cNvPr id="32" name="lifecycle-limit">
            <a:extLst xmlns:a="http://schemas.openxmlformats.org/drawingml/2006/main">
              <a:ext uri="{FF2B5EF4-FFF2-40B4-BE49-F238E27FC236}">
                <a16:creationId xmlns:a16="http://schemas.microsoft.com/office/drawing/2014/main" id="{90CA53F2-C240-4BF5-BA62-AFA19A43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577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Recovery is at least once; pure task idempotency and stale-result fencing matter.</a:t>
            </a:r>
          </a:p>
        </p:txBody>
      </p:sp>
    </p:spTree>
    <p:extLst>
      <p:ext uri="{BB962C8B-B14F-4D97-AF65-F5344CB8AC3E}">
        <p14:creationId xmlns:p14="http://schemas.microsoft.com/office/powerpoint/2010/main" val="1914239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5">
            <a:extLst xmlns:a="http://schemas.openxmlformats.org/drawingml/2006/main">
              <a:ext uri="{FF2B5EF4-FFF2-40B4-BE49-F238E27FC236}">
                <a16:creationId xmlns:a16="http://schemas.microsoft.com/office/drawing/2014/main" id="{68961CA8-8755-4812-B3C1-5AF9415C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0117B81-A96A-4284-A439-C7F6FB99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605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Trust boundaries shape access, tools and retrieved content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90C4E3B4-442C-4C6A-880F-06CEDF32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04F723FC-8A6A-49FC-AAEF-9D35C843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8F9EFA1D-71F8-407F-8985-A31BA7AB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5DE1D1B-180F-4B13-8E30-9124CB2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control-a-marker">
            <a:extLst xmlns:a="http://schemas.openxmlformats.org/drawingml/2006/main">
              <a:ext uri="{FF2B5EF4-FFF2-40B4-BE49-F238E27FC236}">
                <a16:creationId xmlns:a16="http://schemas.microsoft.com/office/drawing/2014/main" id="{BB1F056D-8897-4159-89AF-BFD45FE4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ol-a-heading">
            <a:extLst xmlns:a="http://schemas.openxmlformats.org/drawingml/2006/main">
              <a:ext uri="{FF2B5EF4-FFF2-40B4-BE49-F238E27FC236}">
                <a16:creationId xmlns:a16="http://schemas.microsoft.com/office/drawing/2014/main" id="{58A05A3A-DD03-4712-9B30-576FFDED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Identity and tenancy</a:t>
            </a:r>
          </a:p>
        </p:txBody>
      </p:sp>
      <p:sp>
        <p:nvSpPr>
          <p:cNvPr id="9" name="control-a-body">
            <a:extLst xmlns:a="http://schemas.openxmlformats.org/drawingml/2006/main">
              <a:ext uri="{FF2B5EF4-FFF2-40B4-BE49-F238E27FC236}">
                <a16:creationId xmlns:a16="http://schemas.microsoft.com/office/drawing/2014/main" id="{3BD936BE-50A6-481E-A8C4-47E0C7D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Cookie sessions, CSRF/origin checks and membership checks scope reads and writes.</a:t>
            </a:r>
          </a:p>
        </p:txBody>
      </p:sp>
      <p:sp>
        <p:nvSpPr>
          <p:cNvPr id="10" name="control-b-marker">
            <a:extLst xmlns:a="http://schemas.openxmlformats.org/drawingml/2006/main">
              <a:ext uri="{FF2B5EF4-FFF2-40B4-BE49-F238E27FC236}">
                <a16:creationId xmlns:a16="http://schemas.microsoft.com/office/drawing/2014/main" id="{FE238CA5-8546-414C-9163-2003DA93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trol-b-heading">
            <a:extLst xmlns:a="http://schemas.openxmlformats.org/drawingml/2006/main">
              <a:ext uri="{FF2B5EF4-FFF2-40B4-BE49-F238E27FC236}">
                <a16:creationId xmlns:a16="http://schemas.microsoft.com/office/drawing/2014/main" id="{5B596B0F-7B48-4845-AF03-B2FFB833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Sensitive effects</a:t>
            </a:r>
          </a:p>
        </p:txBody>
      </p:sp>
      <p:sp>
        <p:nvSpPr>
          <p:cNvPr id="12" name="control-b-body">
            <a:extLst xmlns:a="http://schemas.openxmlformats.org/drawingml/2006/main">
              <a:ext uri="{FF2B5EF4-FFF2-40B4-BE49-F238E27FC236}">
                <a16:creationId xmlns:a16="http://schemas.microsoft.com/office/drawing/2014/main" id="{08137ECF-D0AC-4935-9967-D7B74E74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External writes pause for approval; canonical argument fingerprints detect tampering.</a:t>
            </a:r>
          </a:p>
        </p:txBody>
      </p:sp>
      <p:sp>
        <p:nvSpPr>
          <p:cNvPr id="13" name="control-c-marker">
            <a:extLst xmlns:a="http://schemas.openxmlformats.org/drawingml/2006/main">
              <a:ext uri="{FF2B5EF4-FFF2-40B4-BE49-F238E27FC236}">
                <a16:creationId xmlns:a16="http://schemas.microsoft.com/office/drawing/2014/main" id="{866220C4-80BC-47F7-B414-F450EB2D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trol-c-heading">
            <a:extLst xmlns:a="http://schemas.openxmlformats.org/drawingml/2006/main">
              <a:ext uri="{FF2B5EF4-FFF2-40B4-BE49-F238E27FC236}">
                <a16:creationId xmlns:a16="http://schemas.microsoft.com/office/drawing/2014/main" id="{DE3B87BE-846A-4179-B90D-AC1E7DA6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Untrusted inputs</a:t>
            </a:r>
          </a:p>
        </p:txBody>
      </p:sp>
      <p:sp>
        <p:nvSpPr>
          <p:cNvPr id="15" name="control-c-body">
            <a:extLst xmlns:a="http://schemas.openxmlformats.org/drawingml/2006/main">
              <a:ext uri="{FF2B5EF4-FFF2-40B4-BE49-F238E27FC236}">
                <a16:creationId xmlns:a16="http://schemas.microsoft.com/office/drawing/2014/main" id="{7830592D-B26E-41B6-8FCB-513C2077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Research and documents are evidence, not instructions. CSV formulas are treated as data and escaped on export.</a:t>
            </a:r>
          </a:p>
        </p:txBody>
      </p:sp>
      <p:sp>
        <p:nvSpPr>
          <p:cNvPr id="16" name="control-d-marker">
            <a:extLst xmlns:a="http://schemas.openxmlformats.org/drawingml/2006/main">
              <a:ext uri="{FF2B5EF4-FFF2-40B4-BE49-F238E27FC236}">
                <a16:creationId xmlns:a16="http://schemas.microsoft.com/office/drawing/2014/main" id="{941920C0-7F26-4108-AED8-C9D76381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trol-d-heading">
            <a:extLst xmlns:a="http://schemas.openxmlformats.org/drawingml/2006/main">
              <a:ext uri="{FF2B5EF4-FFF2-40B4-BE49-F238E27FC236}">
                <a16:creationId xmlns:a16="http://schemas.microsoft.com/office/drawing/2014/main" id="{4BF64E87-F844-4B0B-9AB5-06736C39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Isolated execution</a:t>
            </a:r>
          </a:p>
        </p:txBody>
      </p:sp>
      <p:sp>
        <p:nvSpPr>
          <p:cNvPr id="18" name="control-d-body">
            <a:extLst xmlns:a="http://schemas.openxmlformats.org/drawingml/2006/main">
              <a:ext uri="{FF2B5EF4-FFF2-40B4-BE49-F238E27FC236}">
                <a16:creationId xmlns:a16="http://schemas.microsoft.com/office/drawing/2014/main" id="{85B0568F-66AB-4A01-A448-779DFBD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8325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The optional code runner is disabled by default and needs a separate TLS-protected Docker Engine.</a:t>
            </a:r>
          </a:p>
        </p:txBody>
      </p:sp>
    </p:spTree>
    <p:extLst>
      <p:ext uri="{BB962C8B-B14F-4D97-AF65-F5344CB8AC3E}">
        <p14:creationId xmlns:p14="http://schemas.microsoft.com/office/powerpoint/2010/main" val="1546878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6">
            <a:extLst xmlns:a="http://schemas.openxmlformats.org/drawingml/2006/main">
              <a:ext uri="{FF2B5EF4-FFF2-40B4-BE49-F238E27FC236}">
                <a16:creationId xmlns:a16="http://schemas.microsoft.com/office/drawing/2014/main" id="{A447EA1B-5E26-4CA6-BB48-8BAB5F9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21556F6-D0A4-4118-8DDC-DA0E4C2F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Checkpoint 15 uses a frozen 78-case evaluation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A109F018-04CA-4CE7-A445-8F54E5C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536160FF-1F44-45CE-A316-105ECCF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12CA8618-864A-4585-A2D8-25DE473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3213F383-0E22-4B96-828E-B895DDC9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eval-count">
            <a:extLst xmlns:a="http://schemas.openxmlformats.org/drawingml/2006/main">
              <a:ext uri="{FF2B5EF4-FFF2-40B4-BE49-F238E27FC236}">
                <a16:creationId xmlns:a16="http://schemas.microsoft.com/office/drawing/2014/main" id="{F3DBFEC2-F339-42BE-B3A0-FBE6F3F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247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0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8" name="eval-label">
            <a:extLst xmlns:a="http://schemas.openxmlformats.org/drawingml/2006/main">
              <a:ext uri="{FF2B5EF4-FFF2-40B4-BE49-F238E27FC236}">
                <a16:creationId xmlns:a16="http://schemas.microsoft.com/office/drawing/2014/main" id="{736883DF-511A-41DA-92A2-5191C39F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frozen cases</a:t>
            </a:r>
          </a:p>
        </p:txBody>
      </p:sp>
      <p:sp>
        <p:nvSpPr>
          <p:cNvPr id="9" name="eval-divider">
            <a:extLst xmlns:a="http://schemas.openxmlformats.org/drawingml/2006/main">
              <a:ext uri="{FF2B5EF4-FFF2-40B4-BE49-F238E27FC236}">
                <a16:creationId xmlns:a16="http://schemas.microsoft.com/office/drawing/2014/main" id="{C90EB923-C729-46FA-BEE5-1CBAFFD6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0" name="eval-valid">
            <a:extLst xmlns:a="http://schemas.openxmlformats.org/drawingml/2006/main">
              <a:ext uri="{FF2B5EF4-FFF2-40B4-BE49-F238E27FC236}">
                <a16:creationId xmlns:a16="http://schemas.microsoft.com/office/drawing/2014/main" id="{AFF0C899-C368-4878-BE03-844E069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28825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11" name="eval-valid-caption">
            <a:extLst xmlns:a="http://schemas.openxmlformats.org/drawingml/2006/main">
              <a:ext uri="{FF2B5EF4-FFF2-40B4-BE49-F238E27FC236}">
                <a16:creationId xmlns:a16="http://schemas.microsoft.com/office/drawing/2014/main" id="{F9C5F408-39E2-4E36-8E40-192D6A8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717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expected success</a:t>
            </a:r>
          </a:p>
        </p:txBody>
      </p:sp>
      <p:sp>
        <p:nvSpPr>
          <p:cNvPr id="12" name="eval-invalid">
            <a:extLst xmlns:a="http://schemas.openxmlformats.org/drawingml/2006/main">
              <a:ext uri="{FF2B5EF4-FFF2-40B4-BE49-F238E27FC236}">
                <a16:creationId xmlns:a16="http://schemas.microsoft.com/office/drawing/2014/main" id="{A201AE0D-9D60-4F09-A728-91BA7B0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eval-invalid-caption">
            <a:extLst xmlns:a="http://schemas.openxmlformats.org/drawingml/2006/main">
              <a:ext uri="{FF2B5EF4-FFF2-40B4-BE49-F238E27FC236}">
                <a16:creationId xmlns:a16="http://schemas.microsoft.com/office/drawing/2014/main" id="{B28D88CF-A584-45B4-8BED-73618F7B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expected rejection</a:t>
            </a:r>
          </a:p>
        </p:txBody>
      </p:sp>
      <p:sp>
        <p:nvSpPr>
          <p:cNvPr id="14" name="eval-modes-title">
            <a:extLst xmlns:a="http://schemas.openxmlformats.org/drawingml/2006/main">
              <a:ext uri="{FF2B5EF4-FFF2-40B4-BE49-F238E27FC236}">
                <a16:creationId xmlns:a16="http://schemas.microsoft.com/office/drawing/2014/main" id="{7673F6B9-137D-493B-B042-8742B31B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Three baselines</a:t>
            </a:r>
          </a:p>
        </p:txBody>
      </p:sp>
      <p:sp>
        <p:nvSpPr>
          <p:cNvPr id="15" name="eval-modes">
            <a:extLst xmlns:a="http://schemas.openxmlformats.org/drawingml/2006/main">
              <a:ext uri="{FF2B5EF4-FFF2-40B4-BE49-F238E27FC236}">
                <a16:creationId xmlns:a16="http://schemas.microsoft.com/office/drawing/2014/main" id="{DE650FEE-14A5-4E65-BC4B-6046234B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86025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Direct registry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Fixed routing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Adaptive routing</a:t>
            </a:r>
          </a:p>
        </p:txBody>
      </p:sp>
      <p:sp>
        <p:nvSpPr>
          <p:cNvPr id="16" name="eval-replicates">
            <a:extLst xmlns:a="http://schemas.openxmlformats.org/drawingml/2006/main">
              <a:ext uri="{FF2B5EF4-FFF2-40B4-BE49-F238E27FC236}">
                <a16:creationId xmlns:a16="http://schemas.microsoft.com/office/drawing/2014/main" id="{0419DF91-324C-4D57-B428-54C1C4F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3 replicates by default  =  234 observations per mode</a:t>
            </a:r>
          </a:p>
        </p:txBody>
      </p:sp>
      <p:sp>
        <p:nvSpPr>
          <p:cNvPr id="17" name="eval-hash">
            <a:extLst xmlns:a="http://schemas.openxmlformats.org/drawingml/2006/main">
              <a:ext uri="{FF2B5EF4-FFF2-40B4-BE49-F238E27FC236}">
                <a16:creationId xmlns:a16="http://schemas.microsoft.com/office/drawing/2014/main" id="{F219E4A9-C0AE-40A2-8943-4FA252E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Raw fixture bytes are SHA-256 hashed and recorded with every result.</a:t>
            </a:r>
          </a:p>
        </p:txBody>
      </p:sp>
    </p:spTree>
    <p:extLst>
      <p:ext uri="{BB962C8B-B14F-4D97-AF65-F5344CB8AC3E}">
        <p14:creationId xmlns:p14="http://schemas.microsoft.com/office/powerpoint/2010/main" val="255903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7">
            <a:extLst xmlns:a="http://schemas.openxmlformats.org/drawingml/2006/main">
              <a:ext uri="{FF2B5EF4-FFF2-40B4-BE49-F238E27FC236}">
                <a16:creationId xmlns:a16="http://schemas.microsoft.com/office/drawing/2014/main" id="{A5A552EF-0BF7-47A9-8815-026899AD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FINDINGS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DFD0922-601C-4230-A364-E183077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The evaluation checks behavior, not superiority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986FA6BA-B45E-4E9C-B69B-242C7CB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09ED5E42-7D6C-4FBE-AE3F-4E1D949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B1720F49-68C2-4A95-9675-E25DF6B5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BF553370-30ED-4D54-8F65-69D6B21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findings-one">
            <a:extLst xmlns:a="http://schemas.openxmlformats.org/drawingml/2006/main">
              <a:ext uri="{FF2B5EF4-FFF2-40B4-BE49-F238E27FC236}">
                <a16:creationId xmlns:a16="http://schemas.microsoft.com/office/drawing/2014/main" id="{9887C52B-AA75-4DAF-B343-9436534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Fixture agreement</a:t>
            </a:r>
          </a:p>
        </p:txBody>
      </p:sp>
      <p:sp>
        <p:nvSpPr>
          <p:cNvPr id="8" name="findings-one-body">
            <a:extLst xmlns:a="http://schemas.openxmlformats.org/drawingml/2006/main">
              <a:ext uri="{FF2B5EF4-FFF2-40B4-BE49-F238E27FC236}">
                <a16:creationId xmlns:a16="http://schemas.microsoft.com/office/drawing/2014/main" id="{3FABB446-27CB-4DE1-B8D7-6F33B2B6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All 78 cases are checked against predeclared outcomes in each baseline test.</a:t>
            </a:r>
          </a:p>
        </p:txBody>
      </p:sp>
      <p:sp>
        <p:nvSpPr>
          <p:cNvPr id="9" name="findings-separator-1">
            <a:extLst xmlns:a="http://schemas.openxmlformats.org/drawingml/2006/main">
              <a:ext uri="{FF2B5EF4-FFF2-40B4-BE49-F238E27FC236}">
                <a16:creationId xmlns:a16="http://schemas.microsoft.com/office/drawing/2014/main" id="{CCF828A9-BAF6-4B37-B07C-E29FD68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62150"/>
            <a:ext cx="0" cy="2209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0" name="findings-two">
            <a:extLst xmlns:a="http://schemas.openxmlformats.org/drawingml/2006/main">
              <a:ext uri="{FF2B5EF4-FFF2-40B4-BE49-F238E27FC236}">
                <a16:creationId xmlns:a16="http://schemas.microsoft.com/office/drawing/2014/main" id="{CE501C1C-578F-4D4A-AAD6-9FEF9180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33575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No policy comparison</a:t>
            </a:r>
          </a:p>
        </p:txBody>
      </p:sp>
      <p:sp>
        <p:nvSpPr>
          <p:cNvPr id="11" name="findings-two-body">
            <a:extLst xmlns:a="http://schemas.openxmlformats.org/drawingml/2006/main">
              <a:ext uri="{FF2B5EF4-FFF2-40B4-BE49-F238E27FC236}">
                <a16:creationId xmlns:a16="http://schemas.microsoft.com/office/drawing/2014/main" id="{92CDB4FD-1F0D-4735-B2B0-9D49981A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Fixed and adaptive currently select the same agents because the registry has one per capability.</a:t>
            </a:r>
          </a:p>
        </p:txBody>
      </p:sp>
      <p:sp>
        <p:nvSpPr>
          <p:cNvPr id="12" name="findings-separator-2">
            <a:extLst xmlns:a="http://schemas.openxmlformats.org/drawingml/2006/main">
              <a:ext uri="{FF2B5EF4-FFF2-40B4-BE49-F238E27FC236}">
                <a16:creationId xmlns:a16="http://schemas.microsoft.com/office/drawing/2014/main" id="{A87ABFD1-A729-4F65-A04E-4C100C60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62150"/>
            <a:ext cx="0" cy="2209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3" name="findings-three">
            <a:extLst xmlns:a="http://schemas.openxmlformats.org/drawingml/2006/main">
              <a:ext uri="{FF2B5EF4-FFF2-40B4-BE49-F238E27FC236}">
                <a16:creationId xmlns:a16="http://schemas.microsoft.com/office/drawing/2014/main" id="{0352C4C5-C512-45DB-9F8C-31FAF883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335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58A72"/>
                </a:solidFill>
                <a:latin typeface="Arial"/>
                <a:ea typeface="Arial"/>
                <a:cs typeface="Arial"/>
              </a:rPr>
              <a:t>No live-model claim</a:t>
            </a:r>
          </a:p>
        </p:txBody>
      </p:sp>
      <p:sp>
        <p:nvSpPr>
          <p:cNvPr id="14" name="findings-three-body">
            <a:extLst xmlns:a="http://schemas.openxmlformats.org/drawingml/2006/main">
              <a:ext uri="{FF2B5EF4-FFF2-40B4-BE49-F238E27FC236}">
                <a16:creationId xmlns:a16="http://schemas.microsoft.com/office/drawing/2014/main" id="{53683ADE-A4C1-402F-8321-CC741561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No provider calls, quality scores, API costs or parallel speedup are measured.</a:t>
            </a:r>
          </a:p>
        </p:txBody>
      </p:sp>
      <p:sp>
        <p:nvSpPr>
          <p:cNvPr id="15" name="findings-interval">
            <a:extLst xmlns:a="http://schemas.openxmlformats.org/drawingml/2006/main">
              <a:ext uri="{FF2B5EF4-FFF2-40B4-BE49-F238E27FC236}">
                <a16:creationId xmlns:a16="http://schemas.microsoft.com/office/drawing/2014/main" id="{07B94447-AAF9-4FF0-8431-3E848DA9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Reported confidence intervals describe case-replicate outcomes, not independent user samples.</a:t>
            </a:r>
          </a:p>
        </p:txBody>
      </p:sp>
    </p:spTree>
    <p:extLst>
      <p:ext uri="{BB962C8B-B14F-4D97-AF65-F5344CB8AC3E}">
        <p14:creationId xmlns:p14="http://schemas.microsoft.com/office/powerpoint/2010/main" val="1096588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8">
            <a:extLst xmlns:a="http://schemas.openxmlformats.org/drawingml/2006/main">
              <a:ext uri="{FF2B5EF4-FFF2-40B4-BE49-F238E27FC236}">
                <a16:creationId xmlns:a16="http://schemas.microsoft.com/office/drawing/2014/main" id="{6431DCD2-A6D4-4BF9-AA27-3D6DC3A2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DEMONSTRATIONS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8BC6F93-8B53-45DA-AEA7-897FC941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The showcase runs four bounded scenarios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E71C7921-E4BF-4548-BAC0-8DB5C0D6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4B2846C8-EEDD-4292-A70E-901E70F3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7FD78FBB-C5AB-4315-91DA-3D359387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80C6FBDA-D444-45AC-8080-F0B6C1F0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demo-letter-0">
            <a:extLst xmlns:a="http://schemas.openxmlformats.org/drawingml/2006/main">
              <a:ext uri="{FF2B5EF4-FFF2-40B4-BE49-F238E27FC236}">
                <a16:creationId xmlns:a16="http://schemas.microsoft.com/office/drawing/2014/main" id="{56D9DDB6-3315-4576-A936-B080584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demo-title-0">
            <a:extLst xmlns:a="http://schemas.openxmlformats.org/drawingml/2006/main">
              <a:ext uri="{FF2B5EF4-FFF2-40B4-BE49-F238E27FC236}">
                <a16:creationId xmlns:a16="http://schemas.microsoft.com/office/drawing/2014/main" id="{954045F0-D8A2-48E5-9353-E210FAA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6212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Research report</a:t>
            </a:r>
          </a:p>
        </p:txBody>
      </p:sp>
      <p:sp>
        <p:nvSpPr>
          <p:cNvPr id="9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AE2DC9F8-0D33-40F5-AC2A-D7C4E07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62125"/>
            <a:ext cx="655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Synthetic local source cards; no live retrieval or current market claims.</a:t>
            </a:r>
          </a:p>
        </p:txBody>
      </p:sp>
      <p:sp>
        <p:nvSpPr>
          <p:cNvPr id="10" name="demo-rule-0">
            <a:extLst xmlns:a="http://schemas.openxmlformats.org/drawingml/2006/main">
              <a:ext uri="{FF2B5EF4-FFF2-40B4-BE49-F238E27FC236}">
                <a16:creationId xmlns:a16="http://schemas.microsoft.com/office/drawing/2014/main" id="{90AE5CFA-6A26-4194-BFAB-2B0A11A2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1" name="demo-letter-1">
            <a:extLst xmlns:a="http://schemas.openxmlformats.org/drawingml/2006/main">
              <a:ext uri="{FF2B5EF4-FFF2-40B4-BE49-F238E27FC236}">
                <a16:creationId xmlns:a16="http://schemas.microsoft.com/office/drawing/2014/main" id="{7D5CBA8B-D578-4D82-AA8A-5EA838E5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ECA3F92F-E193-4494-8392-6D7D0636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Coding validation</a:t>
            </a:r>
          </a:p>
        </p:txBody>
      </p:sp>
      <p:sp>
        <p:nvSpPr>
          <p:cNvPr id="13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E51E911-087E-428D-A052-1E810852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655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Example diff and real approval record; no sandbox execution or repo write.</a:t>
            </a:r>
          </a:p>
        </p:txBody>
      </p:sp>
      <p:sp>
        <p:nvSpPr>
          <p:cNvPr id="14" name="demo-rule-1">
            <a:extLst xmlns:a="http://schemas.openxmlformats.org/drawingml/2006/main">
              <a:ext uri="{FF2B5EF4-FFF2-40B4-BE49-F238E27FC236}">
                <a16:creationId xmlns:a16="http://schemas.microsoft.com/office/drawing/2014/main" id="{3C9A5EEB-9B49-4FBE-AE13-C71A4AB2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5" name="demo-letter-2">
            <a:extLst xmlns:a="http://schemas.openxmlformats.org/drawingml/2006/main">
              <a:ext uri="{FF2B5EF4-FFF2-40B4-BE49-F238E27FC236}">
                <a16:creationId xmlns:a16="http://schemas.microsoft.com/office/drawing/2014/main" id="{DDF40F57-8DA0-4E6A-87C2-8EB3F4B5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962AE22F-EA61-4201-90C2-4DB4B34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6237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Dataset intelligence</a:t>
            </a:r>
          </a:p>
        </p:txBody>
      </p:sp>
      <p:sp>
        <p:nvSpPr>
          <p:cNvPr id="17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5A439C25-9BE1-46BE-8113-D21F0011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655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Real bounded CSV profile, computed totals/Z-scores, report and SVG artifact.</a:t>
            </a:r>
          </a:p>
        </p:txBody>
      </p:sp>
      <p:sp>
        <p:nvSpPr>
          <p:cNvPr id="18" name="demo-rule-2">
            <a:extLst xmlns:a="http://schemas.openxmlformats.org/drawingml/2006/main">
              <a:ext uri="{FF2B5EF4-FFF2-40B4-BE49-F238E27FC236}">
                <a16:creationId xmlns:a16="http://schemas.microsoft.com/office/drawing/2014/main" id="{15497D29-5C00-4ABA-A45F-91BA854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9" name="demo-letter-3">
            <a:extLst xmlns:a="http://schemas.openxmlformats.org/drawingml/2006/main">
              <a:ext uri="{FF2B5EF4-FFF2-40B4-BE49-F238E27FC236}">
                <a16:creationId xmlns:a16="http://schemas.microsoft.com/office/drawing/2014/main" id="{F760C6E7-F391-4076-A2F8-0D862E0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58A7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demo-title-3">
            <a:extLst xmlns:a="http://schemas.openxmlformats.org/drawingml/2006/main">
              <a:ext uri="{FF2B5EF4-FFF2-40B4-BE49-F238E27FC236}">
                <a16:creationId xmlns:a16="http://schemas.microsoft.com/office/drawing/2014/main" id="{85DC0DFE-0264-4E96-822B-8A8708F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625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Recovery walkthrough</a:t>
            </a:r>
          </a:p>
        </p:txBody>
      </p:sp>
      <p:sp>
        <p:nvSpPr>
          <p:cNvPr id="21" name="demo-detail-3">
            <a:extLst xmlns:a="http://schemas.openxmlformats.org/drawingml/2006/main">
              <a:ext uri="{FF2B5EF4-FFF2-40B4-BE49-F238E27FC236}">
                <a16:creationId xmlns:a16="http://schemas.microsoft.com/office/drawing/2014/main" id="{6E5EFD0E-CD0E-4A61-B978-F49A688B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62500"/>
            <a:ext cx="655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Persisted pause/checkpoint snapshot; no worker-kill test.</a:t>
            </a:r>
          </a:p>
        </p:txBody>
      </p:sp>
    </p:spTree>
    <p:extLst>
      <p:ext uri="{BB962C8B-B14F-4D97-AF65-F5344CB8AC3E}">
        <p14:creationId xmlns:p14="http://schemas.microsoft.com/office/powerpoint/2010/main" val="2081655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9">
            <a:extLst xmlns:a="http://schemas.openxmlformats.org/drawingml/2006/main">
              <a:ext uri="{FF2B5EF4-FFF2-40B4-BE49-F238E27FC236}">
                <a16:creationId xmlns:a16="http://schemas.microsoft.com/office/drawing/2014/main" id="{230E67B5-7E64-43CE-8B72-EBCAD57C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88EFB24-034B-4658-B497-7888585A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The staging profile narrows the public surface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70793D0D-0AC3-48AF-B0F9-4EA22C99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00B08F16-FE6C-4266-B509-90BD303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2AD5C1FE-FF2E-43B6-8526-64E5B90B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F7E32544-4750-4C61-8E33-B609DE79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deploy-entry">
            <a:extLst xmlns:a="http://schemas.openxmlformats.org/drawingml/2006/main">
              <a:ext uri="{FF2B5EF4-FFF2-40B4-BE49-F238E27FC236}">
                <a16:creationId xmlns:a16="http://schemas.microsoft.com/office/drawing/2014/main" id="{C183C715-40B3-45E6-9755-2221BE4C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Public ingress</a:t>
            </a:r>
          </a:p>
        </p:txBody>
      </p:sp>
      <p:sp>
        <p:nvSpPr>
          <p:cNvPr id="8" name="deploy-entry-body">
            <a:extLst xmlns:a="http://schemas.openxmlformats.org/drawingml/2006/main">
              <a:ext uri="{FF2B5EF4-FFF2-40B4-BE49-F238E27FC236}">
                <a16:creationId xmlns:a16="http://schemas.microsoft.com/office/drawing/2014/main" id="{CC2A9DD0-6191-403E-8D0D-509FD3AB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Caddy on 80/443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Automatic TLS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Security headers</a:t>
            </a:r>
          </a:p>
        </p:txBody>
      </p:sp>
      <p:sp>
        <p:nvSpPr>
          <p:cNvPr id="9" name="deploy-divider-1">
            <a:extLst xmlns:a="http://schemas.openxmlformats.org/drawingml/2006/main">
              <a:ext uri="{FF2B5EF4-FFF2-40B4-BE49-F238E27FC236}">
                <a16:creationId xmlns:a16="http://schemas.microsoft.com/office/drawing/2014/main" id="{D2E7051B-7BEE-4BDF-9F9E-DCAC250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71675"/>
            <a:ext cx="0" cy="2047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0" name="deploy-state">
            <a:extLst xmlns:a="http://schemas.openxmlformats.org/drawingml/2006/main">
              <a:ext uri="{FF2B5EF4-FFF2-40B4-BE49-F238E27FC236}">
                <a16:creationId xmlns:a16="http://schemas.microsoft.com/office/drawing/2014/main" id="{BF0C2BBB-2D9E-4350-82ED-F02F1F4D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621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Private services</a:t>
            </a:r>
          </a:p>
        </p:txBody>
      </p:sp>
      <p:sp>
        <p:nvSpPr>
          <p:cNvPr id="11" name="deploy-state-body">
            <a:extLst xmlns:a="http://schemas.openxmlformats.org/drawingml/2006/main">
              <a:ext uri="{FF2B5EF4-FFF2-40B4-BE49-F238E27FC236}">
                <a16:creationId xmlns:a16="http://schemas.microsoft.com/office/drawing/2014/main" id="{BC321867-1F4F-4375-949F-F479152A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336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FastAPI + worker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No host port mappings</a:t>
            </a:r>
          </a:p>
        </p:txBody>
      </p:sp>
      <p:sp>
        <p:nvSpPr>
          <p:cNvPr id="12" name="deploy-divider-2">
            <a:extLst xmlns:a="http://schemas.openxmlformats.org/drawingml/2006/main">
              <a:ext uri="{FF2B5EF4-FFF2-40B4-BE49-F238E27FC236}">
                <a16:creationId xmlns:a16="http://schemas.microsoft.com/office/drawing/2014/main" id="{3D829354-BB67-409C-8E72-D60BD12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71675"/>
            <a:ext cx="0" cy="2047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3" name="deploy-secret">
            <a:extLst xmlns:a="http://schemas.openxmlformats.org/drawingml/2006/main">
              <a:ext uri="{FF2B5EF4-FFF2-40B4-BE49-F238E27FC236}">
                <a16:creationId xmlns:a16="http://schemas.microsoft.com/office/drawing/2014/main" id="{B080DB3B-2843-45CA-ACFF-A186B53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Operator controls</a:t>
            </a:r>
          </a:p>
        </p:txBody>
      </p:sp>
      <p:sp>
        <p:nvSpPr>
          <p:cNvPr id="14" name="deploy-secret-body">
            <a:extLst xmlns:a="http://schemas.openxmlformats.org/drawingml/2006/main">
              <a:ext uri="{FF2B5EF4-FFF2-40B4-BE49-F238E27FC236}">
                <a16:creationId xmlns:a16="http://schemas.microsoft.com/office/drawing/2014/main" id="{FCF66C74-0A92-4870-8F05-1F45E08D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323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Mounted DB secret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Registration disabled</a:t>
            </a:r>
          </a:p>
          <a:p xmlns:a="http://schemas.openxmlformats.org/drawingml/2006/main">
            <a:pPr algn="l">
              <a:defRPr sz="1800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First account via CLI bootstrap</a:t>
            </a:r>
          </a:p>
        </p:txBody>
      </p:sp>
      <p:sp>
        <p:nvSpPr>
          <p:cNvPr id="15" name="deploy-safety">
            <a:extLst xmlns:a="http://schemas.openxmlformats.org/drawingml/2006/main">
              <a:ext uri="{FF2B5EF4-FFF2-40B4-BE49-F238E27FC236}">
                <a16:creationId xmlns:a16="http://schemas.microsoft.com/office/drawing/2014/main" id="{BA1D944E-7864-4BE1-A0C1-DB9F925F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8A72"/>
                </a:solidFill>
                <a:latin typeface="Arial"/>
                <a:ea typeface="Arial"/>
                <a:cs typeface="Arial"/>
              </a:rPr>
              <a:t>Staging only: restrict access by VPN or source IP until auth hardening and independent review are complete.</a:t>
            </a:r>
          </a:p>
        </p:txBody>
      </p:sp>
    </p:spTree>
    <p:extLst>
      <p:ext uri="{BB962C8B-B14F-4D97-AF65-F5344CB8AC3E}">
        <p14:creationId xmlns:p14="http://schemas.microsoft.com/office/powerpoint/2010/main" val="921763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AC6581A3-9832-4A1C-B189-6C0062DC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BDD3D4C-491D-466C-A32B-36B2A86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Backup and restore are designed as a verifiable pair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11CFD28D-AAAC-4841-98ED-E2F8216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3A9DCE64-5699-4F01-8F58-C80D2715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51BF86C9-3D41-4EA4-9E57-F6AEDAF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4B700990-0DE8-48A2-80A7-CEAD059B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backup-number-0">
            <a:extLst xmlns:a="http://schemas.openxmlformats.org/drawingml/2006/main">
              <a:ext uri="{FF2B5EF4-FFF2-40B4-BE49-F238E27FC236}">
                <a16:creationId xmlns:a16="http://schemas.microsoft.com/office/drawing/2014/main" id="{57F5A34D-2EB4-46D3-BAB0-256D208C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backup-title-0">
            <a:extLst xmlns:a="http://schemas.openxmlformats.org/drawingml/2006/main">
              <a:ext uri="{FF2B5EF4-FFF2-40B4-BE49-F238E27FC236}">
                <a16:creationId xmlns:a16="http://schemas.microsoft.com/office/drawing/2014/main" id="{14D845A2-F329-4A36-AA79-5062D824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813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Dump</a:t>
            </a:r>
          </a:p>
        </p:txBody>
      </p:sp>
      <p:sp>
        <p:nvSpPr>
          <p:cNvPr id="9" name="backup-sub-0">
            <a:extLst xmlns:a="http://schemas.openxmlformats.org/drawingml/2006/main">
              <a:ext uri="{FF2B5EF4-FFF2-40B4-BE49-F238E27FC236}">
                <a16:creationId xmlns:a16="http://schemas.microsoft.com/office/drawing/2014/main" id="{FF374BDC-D463-4755-BB97-BBE00928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457575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PostgreSQL custom format</a:t>
            </a:r>
          </a:p>
        </p:txBody>
      </p:sp>
      <p:sp>
        <p:nvSpPr>
          <p:cNvPr id="10" name="backup-line-0">
            <a:extLst xmlns:a="http://schemas.openxmlformats.org/drawingml/2006/main">
              <a:ext uri="{FF2B5EF4-FFF2-40B4-BE49-F238E27FC236}">
                <a16:creationId xmlns:a16="http://schemas.microsoft.com/office/drawing/2014/main" id="{C593456A-6F20-4515-8EF2-63BDD94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9825"/>
            <a:ext cx="1743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05B"/>
            </a:solidFill>
            <a:prstDash val="solid"/>
          </a:ln>
        </p:spPr>
      </p:sp>
      <p:sp>
        <p:nvSpPr>
          <p:cNvPr id="11" name="backup-number-1">
            <a:extLst xmlns:a="http://schemas.openxmlformats.org/drawingml/2006/main">
              <a:ext uri="{FF2B5EF4-FFF2-40B4-BE49-F238E27FC236}">
                <a16:creationId xmlns:a16="http://schemas.microsoft.com/office/drawing/2014/main" id="{73682BD0-10CF-4F30-8189-536840D1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backup-title-1">
            <a:extLst xmlns:a="http://schemas.openxmlformats.org/drawingml/2006/main">
              <a:ext uri="{FF2B5EF4-FFF2-40B4-BE49-F238E27FC236}">
                <a16:creationId xmlns:a16="http://schemas.microsoft.com/office/drawing/2014/main" id="{DB37283B-7083-4D13-B654-F901A694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813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13" name="backup-sub-1">
            <a:extLst xmlns:a="http://schemas.openxmlformats.org/drawingml/2006/main">
              <a:ext uri="{FF2B5EF4-FFF2-40B4-BE49-F238E27FC236}">
                <a16:creationId xmlns:a16="http://schemas.microsoft.com/office/drawing/2014/main" id="{3B79EA6A-D6C2-4580-B9F9-1ACAD21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57575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GPG AES-256 + SHA-256</a:t>
            </a:r>
          </a:p>
        </p:txBody>
      </p:sp>
      <p:sp>
        <p:nvSpPr>
          <p:cNvPr id="14" name="backup-line-1">
            <a:extLst xmlns:a="http://schemas.openxmlformats.org/drawingml/2006/main">
              <a:ext uri="{FF2B5EF4-FFF2-40B4-BE49-F238E27FC236}">
                <a16:creationId xmlns:a16="http://schemas.microsoft.com/office/drawing/2014/main" id="{5F57650B-6E1F-4328-85E7-5CBA57F2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09825"/>
            <a:ext cx="1743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05B"/>
            </a:solidFill>
            <a:prstDash val="solid"/>
          </a:ln>
        </p:spPr>
      </p:sp>
      <p:sp>
        <p:nvSpPr>
          <p:cNvPr id="15" name="backup-number-2">
            <a:extLst xmlns:a="http://schemas.openxmlformats.org/drawingml/2006/main">
              <a:ext uri="{FF2B5EF4-FFF2-40B4-BE49-F238E27FC236}">
                <a16:creationId xmlns:a16="http://schemas.microsoft.com/office/drawing/2014/main" id="{86D49116-C0E6-4B2A-AEA2-BC368195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backup-title-2">
            <a:extLst xmlns:a="http://schemas.openxmlformats.org/drawingml/2006/main">
              <a:ext uri="{FF2B5EF4-FFF2-40B4-BE49-F238E27FC236}">
                <a16:creationId xmlns:a16="http://schemas.microsoft.com/office/drawing/2014/main" id="{B45DC970-1BFA-416B-9FAA-C06714A5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813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17" name="backup-sub-2">
            <a:extLst xmlns:a="http://schemas.openxmlformats.org/drawingml/2006/main">
              <a:ext uri="{FF2B5EF4-FFF2-40B4-BE49-F238E27FC236}">
                <a16:creationId xmlns:a16="http://schemas.microsoft.com/office/drawing/2014/main" id="{787E9622-F64E-4015-907E-E35C898F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57575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New isolated DB only</a:t>
            </a:r>
          </a:p>
        </p:txBody>
      </p:sp>
      <p:sp>
        <p:nvSpPr>
          <p:cNvPr id="18" name="backup-line-2">
            <a:extLst xmlns:a="http://schemas.openxmlformats.org/drawingml/2006/main">
              <a:ext uri="{FF2B5EF4-FFF2-40B4-BE49-F238E27FC236}">
                <a16:creationId xmlns:a16="http://schemas.microsoft.com/office/drawing/2014/main" id="{7A027EF0-0592-4288-B28F-64371713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9825"/>
            <a:ext cx="1743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05B"/>
            </a:solidFill>
            <a:prstDash val="solid"/>
          </a:ln>
        </p:spPr>
      </p:sp>
      <p:sp>
        <p:nvSpPr>
          <p:cNvPr id="19" name="backup-number-3">
            <a:extLst xmlns:a="http://schemas.openxmlformats.org/drawingml/2006/main">
              <a:ext uri="{FF2B5EF4-FFF2-40B4-BE49-F238E27FC236}">
                <a16:creationId xmlns:a16="http://schemas.microsoft.com/office/drawing/2014/main" id="{BBF2EBC2-9270-415C-90D1-DAD362CC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backup-title-3">
            <a:extLst xmlns:a="http://schemas.openxmlformats.org/drawingml/2006/main">
              <a:ext uri="{FF2B5EF4-FFF2-40B4-BE49-F238E27FC236}">
                <a16:creationId xmlns:a16="http://schemas.microsoft.com/office/drawing/2014/main" id="{13517985-98D7-4EBA-AB02-22959BBD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813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1" name="backup-sub-3">
            <a:extLst xmlns:a="http://schemas.openxmlformats.org/drawingml/2006/main">
              <a:ext uri="{FF2B5EF4-FFF2-40B4-BE49-F238E27FC236}">
                <a16:creationId xmlns:a16="http://schemas.microsoft.com/office/drawing/2014/main" id="{692A8AF9-253D-4BDA-8DE5-D8AE7556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57575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Migrations + row counts</a:t>
            </a:r>
          </a:p>
        </p:txBody>
      </p:sp>
      <p:sp>
        <p:nvSpPr>
          <p:cNvPr id="22" name="backup-limit">
            <a:extLst xmlns:a="http://schemas.openxmlformats.org/drawingml/2006/main">
              <a:ext uri="{FF2B5EF4-FFF2-40B4-BE49-F238E27FC236}">
                <a16:creationId xmlns:a16="http://schemas.microsoft.com/office/drawing/2014/main" id="{0A48D4AB-0EA2-4F0F-8495-701C0550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958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Off-host retention and a restore on the staging host are still required for disaster recovery.</a:t>
            </a:r>
          </a:p>
        </p:txBody>
      </p:sp>
    </p:spTree>
    <p:extLst>
      <p:ext uri="{BB962C8B-B14F-4D97-AF65-F5344CB8AC3E}">
        <p14:creationId xmlns:p14="http://schemas.microsoft.com/office/powerpoint/2010/main" val="188329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1">
            <a:extLst xmlns:a="http://schemas.openxmlformats.org/drawingml/2006/main">
              <a:ext uri="{FF2B5EF4-FFF2-40B4-BE49-F238E27FC236}">
                <a16:creationId xmlns:a16="http://schemas.microsoft.com/office/drawing/2014/main" id="{F285598D-8DAB-4E57-A47F-0069DCAC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RELEASE STATUS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95B492-B4E6-4DD8-8A4D-DFA3B942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182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Local checks pass; hosted release needs verification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5F3314D2-0ACA-4AC3-A78E-5D1BD8D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3FBF78FD-B031-44FD-827D-78F77F15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F4E5BF38-3020-494B-96E1-B6E47197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E60B1BF3-A634-4DB0-896C-4013AF25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status-local">
            <a:extLst xmlns:a="http://schemas.openxmlformats.org/drawingml/2006/main">
              <a:ext uri="{FF2B5EF4-FFF2-40B4-BE49-F238E27FC236}">
                <a16:creationId xmlns:a16="http://schemas.microsoft.com/office/drawing/2014/main" id="{DA57EDA9-6F2F-48BD-BE67-CDC9E02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3762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Verified locally</a:t>
            </a:r>
          </a:p>
        </p:txBody>
      </p:sp>
      <p:sp>
        <p:nvSpPr>
          <p:cNvPr id="8" name="status-local-body">
            <a:extLst xmlns:a="http://schemas.openxmlformats.org/drawingml/2006/main">
              <a:ext uri="{FF2B5EF4-FFF2-40B4-BE49-F238E27FC236}">
                <a16:creationId xmlns:a16="http://schemas.microsoft.com/office/drawing/2014/main" id="{1E84D5B2-9F67-4A4F-A81D-5116641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0481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Backend suite: 281 passed</a:t>
            </a:r>
          </a:p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Ruff, Mypy and format checks</a:t>
            </a:r>
          </a:p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Frontend production build</a:t>
            </a:r>
          </a:p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Four demos + backup/restore</a:t>
            </a:r>
          </a:p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Compose overlay syntax</a:t>
            </a:r>
          </a:p>
        </p:txBody>
      </p:sp>
      <p:sp>
        <p:nvSpPr>
          <p:cNvPr id="9" name="status-divider">
            <a:extLst xmlns:a="http://schemas.openxmlformats.org/drawingml/2006/main">
              <a:ext uri="{FF2B5EF4-FFF2-40B4-BE49-F238E27FC236}">
                <a16:creationId xmlns:a16="http://schemas.microsoft.com/office/drawing/2014/main" id="{465AEA6E-69EC-474E-AA95-07B83109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431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10" name="status-open">
            <a:extLst xmlns:a="http://schemas.openxmlformats.org/drawingml/2006/main">
              <a:ext uri="{FF2B5EF4-FFF2-40B4-BE49-F238E27FC236}">
                <a16:creationId xmlns:a16="http://schemas.microsoft.com/office/drawing/2014/main" id="{0DF4CBA8-6ED4-4DAA-AAD4-2552CF1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0BD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0BD76"/>
                </a:solidFill>
                <a:latin typeface="Arial"/>
                <a:ea typeface="Arial"/>
                <a:cs typeface="Arial"/>
              </a:rPr>
              <a:t>Hosted checks still open</a:t>
            </a:r>
          </a:p>
        </p:txBody>
      </p:sp>
      <p:sp>
        <p:nvSpPr>
          <p:cNvPr id="11" name="status-open-body">
            <a:extLst xmlns:a="http://schemas.openxmlformats.org/drawingml/2006/main">
              <a:ext uri="{FF2B5EF4-FFF2-40B4-BE49-F238E27FC236}">
                <a16:creationId xmlns:a16="http://schemas.microsoft.com/office/drawing/2014/main" id="{E98F3371-5996-46A8-94A4-70842C38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38400"/>
            <a:ext cx="5162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Successful free-host build + health check</a:t>
            </a:r>
          </a:p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Core demos on the host</a:t>
            </a:r>
          </a:p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Off-host backup retention</a:t>
            </a:r>
          </a:p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External security and dependency review</a:t>
            </a:r>
          </a:p>
        </p:txBody>
      </p:sp>
      <p:sp>
        <p:nvSpPr>
          <p:cNvPr id="12" name="status-hold">
            <a:extLst xmlns:a="http://schemas.openxmlformats.org/drawingml/2006/main">
              <a:ext uri="{FF2B5EF4-FFF2-40B4-BE49-F238E27FC236}">
                <a16:creationId xmlns:a16="http://schemas.microsoft.com/office/drawing/2014/main" id="{0854FB1C-76F8-49D0-BD7D-D2768340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E58A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58A72"/>
                </a:solidFill>
                <a:latin typeface="Arial"/>
                <a:ea typeface="Arial"/>
                <a:cs typeface="Arial"/>
              </a:rPr>
              <a:t>Checkpoint 16 is prepared, not signed off.</a:t>
            </a:r>
          </a:p>
        </p:txBody>
      </p:sp>
    </p:spTree>
    <p:extLst>
      <p:ext uri="{BB962C8B-B14F-4D97-AF65-F5344CB8AC3E}">
        <p14:creationId xmlns:p14="http://schemas.microsoft.com/office/powerpoint/2010/main" val="155470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12">
            <a:extLst xmlns:a="http://schemas.openxmlformats.org/drawingml/2006/main">
              <a:ext uri="{FF2B5EF4-FFF2-40B4-BE49-F238E27FC236}">
                <a16:creationId xmlns:a16="http://schemas.microsoft.com/office/drawing/2014/main" id="{05FC91FF-3C41-4A95-9B6D-3C1A4D2C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0C9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C9BC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0FC04EBE-3C02-4C3B-99CF-D67DB05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Three questions worth defending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40C1C8E3-EC17-4F20-9DD2-5AFBA286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22D03C41-9363-4DE7-B943-E3B599A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B"/>
            </a:solidFill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8E9A69EC-9E89-4705-9E7A-3F9DA0B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ORQESTRA AI  |  FINAL PROJECT VIVA</a:t>
            </a:r>
          </a:p>
        </p:txBody>
      </p:sp>
      <p:sp>
        <p:nvSpPr>
          <p:cNvPr id="6" name="page-12">
            <a:extLst xmlns:a="http://schemas.openxmlformats.org/drawingml/2006/main">
              <a:ext uri="{FF2B5EF4-FFF2-40B4-BE49-F238E27FC236}">
                <a16:creationId xmlns:a16="http://schemas.microsoft.com/office/drawing/2014/main" id="{A7BFA549-9CE2-48E6-9F94-033220C7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7B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viva-a-marker">
            <a:extLst xmlns:a="http://schemas.openxmlformats.org/drawingml/2006/main">
              <a:ext uri="{FF2B5EF4-FFF2-40B4-BE49-F238E27FC236}">
                <a16:creationId xmlns:a16="http://schemas.microsoft.com/office/drawing/2014/main" id="{3B5C8774-9E44-4929-8EF8-5C9F08E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viva-a-heading">
            <a:extLst xmlns:a="http://schemas.openxmlformats.org/drawingml/2006/main">
              <a:ext uri="{FF2B5EF4-FFF2-40B4-BE49-F238E27FC236}">
                <a16:creationId xmlns:a16="http://schemas.microsoft.com/office/drawing/2014/main" id="{89EEC12B-55D7-42E1-82FE-3991FBFD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Why at-least-once recovery?</a:t>
            </a:r>
          </a:p>
        </p:txBody>
      </p:sp>
      <p:sp>
        <p:nvSpPr>
          <p:cNvPr id="9" name="viva-a-body">
            <a:extLst xmlns:a="http://schemas.openxmlformats.org/drawingml/2006/main">
              <a:ext uri="{FF2B5EF4-FFF2-40B4-BE49-F238E27FC236}">
                <a16:creationId xmlns:a16="http://schemas.microsoft.com/office/drawing/2014/main" id="{5A61070C-AD12-4C33-8581-62AA0256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Workers can repeat a pure task after lease expiry; fencing prevents stale attempts from overwriting newer work.</a:t>
            </a:r>
          </a:p>
        </p:txBody>
      </p:sp>
      <p:sp>
        <p:nvSpPr>
          <p:cNvPr id="10" name="viva-b-marker">
            <a:extLst xmlns:a="http://schemas.openxmlformats.org/drawingml/2006/main">
              <a:ext uri="{FF2B5EF4-FFF2-40B4-BE49-F238E27FC236}">
                <a16:creationId xmlns:a16="http://schemas.microsoft.com/office/drawing/2014/main" id="{F6CC507B-38B4-4647-8007-AC1E7881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iva-b-heading">
            <a:extLst xmlns:a="http://schemas.openxmlformats.org/drawingml/2006/main">
              <a:ext uri="{FF2B5EF4-FFF2-40B4-BE49-F238E27FC236}">
                <a16:creationId xmlns:a16="http://schemas.microsoft.com/office/drawing/2014/main" id="{D221E8C5-3261-46C3-8297-B04F3D44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Why use PostgreSQL for login throttling?</a:t>
            </a:r>
          </a:p>
        </p:txBody>
      </p:sp>
      <p:sp>
        <p:nvSpPr>
          <p:cNvPr id="12" name="viva-b-body">
            <a:extLst xmlns:a="http://schemas.openxmlformats.org/drawingml/2006/main">
              <a:ext uri="{FF2B5EF4-FFF2-40B4-BE49-F238E27FC236}">
                <a16:creationId xmlns:a16="http://schemas.microsoft.com/office/drawing/2014/main" id="{B7DDD458-25A5-4D16-89EF-19415EF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The managed deployment provides PostgreSQL, so an atomic counter table avoids another service while sharing limits across API instances.</a:t>
            </a:r>
          </a:p>
        </p:txBody>
      </p:sp>
      <p:sp>
        <p:nvSpPr>
          <p:cNvPr id="13" name="viva-c-marker">
            <a:extLst xmlns:a="http://schemas.openxmlformats.org/drawingml/2006/main">
              <a:ext uri="{FF2B5EF4-FFF2-40B4-BE49-F238E27FC236}">
                <a16:creationId xmlns:a16="http://schemas.microsoft.com/office/drawing/2014/main" id="{8E1F9F6B-6FC3-4A99-9A06-346A5B21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iva-c-heading">
            <a:extLst xmlns:a="http://schemas.openxmlformats.org/drawingml/2006/main">
              <a:ext uri="{FF2B5EF4-FFF2-40B4-BE49-F238E27FC236}">
                <a16:creationId xmlns:a16="http://schemas.microsoft.com/office/drawing/2014/main" id="{D955BF0E-E5DC-4FF2-81F7-3126D588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0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0E8"/>
                </a:solidFill>
                <a:latin typeface="Arial"/>
                <a:ea typeface="Arial"/>
                <a:cs typeface="Arial"/>
              </a:rPr>
              <a:t>What would prove adaptive routing helps?</a:t>
            </a:r>
          </a:p>
        </p:txBody>
      </p:sp>
      <p:sp>
        <p:nvSpPr>
          <p:cNvPr id="15" name="viva-c-body">
            <a:extLst xmlns:a="http://schemas.openxmlformats.org/drawingml/2006/main">
              <a:ext uri="{FF2B5EF4-FFF2-40B4-BE49-F238E27FC236}">
                <a16:creationId xmlns:a16="http://schemas.microsoft.com/office/drawing/2014/main" id="{BC955D93-481B-4A3D-8311-E1B901FF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BC"/>
                </a:solidFill>
                <a:latin typeface="Arial"/>
                <a:ea typeface="Arial"/>
                <a:cs typeface="Arial"/>
              </a:rPr>
              <a:t>A held-out task set, competing agents per capability, controlled repeated runs and uncertainty-aware comparison.</a:t>
            </a:r>
          </a:p>
        </p:txBody>
      </p:sp>
    </p:spTree>
    <p:extLst>
      <p:ext uri="{BB962C8B-B14F-4D97-AF65-F5344CB8AC3E}">
        <p14:creationId xmlns:p14="http://schemas.microsoft.com/office/powerpoint/2010/main" val="632791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2026-10-29T05:09:43.2320000Z</dcterms:created>
  <dcterms:modified xsi:type="dcterms:W3CDTF">2026-10-29T05:09:43.2320000Z</dcterms:modified>
</coreProperties>
</file>